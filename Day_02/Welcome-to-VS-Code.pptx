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Kanit" panose="020B0604020202020204" charset="-34"/>
      <p:regular r:id="rId20"/>
    </p:embeddedFont>
    <p:embeddedFont>
      <p:font typeface="Martel Sans Light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163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ode.visualstudio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277466" y="1539776"/>
            <a:ext cx="6589068" cy="763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950"/>
              </a:lnSpc>
              <a:buNone/>
            </a:pPr>
            <a:r>
              <a:rPr lang="en-US" sz="4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Welcome to VS Code! </a:t>
            </a:r>
            <a:r>
              <a:rPr lang="en-US" sz="47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🚀</a:t>
            </a:r>
            <a:endParaRPr lang="en-US" sz="4750" dirty="0"/>
          </a:p>
        </p:txBody>
      </p:sp>
      <p:sp>
        <p:nvSpPr>
          <p:cNvPr id="5" name="Text 2"/>
          <p:cNvSpPr/>
          <p:nvPr/>
        </p:nvSpPr>
        <p:spPr>
          <a:xfrm>
            <a:off x="2646834" y="2584028"/>
            <a:ext cx="385033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Learn to Code Like a Pro!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523577" y="3304505"/>
            <a:ext cx="8096845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beginner's guide to setting up VS Code for Python on Windows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724" y="521643"/>
            <a:ext cx="4056534" cy="511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What is VS Code? </a:t>
            </a:r>
            <a:r>
              <a:rPr lang="en-US" sz="31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💻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482724" y="1271736"/>
            <a:ext cx="2295302" cy="1187500"/>
          </a:xfrm>
          <a:prstGeom prst="roundRect">
            <a:avLst>
              <a:gd name="adj" fmla="val 2178"/>
            </a:avLst>
          </a:prstGeom>
          <a:solidFill>
            <a:srgbClr val="100C35"/>
          </a:solidFill>
          <a:ln w="23813">
            <a:solidFill>
              <a:srgbClr val="48446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8879" y="1467892"/>
            <a:ext cx="1902991" cy="53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VS Code is a code editor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936900" y="1271736"/>
            <a:ext cx="2295376" cy="1187500"/>
          </a:xfrm>
          <a:prstGeom prst="roundRect">
            <a:avLst>
              <a:gd name="adj" fmla="val 2178"/>
            </a:avLst>
          </a:prstGeom>
          <a:solidFill>
            <a:srgbClr val="100C35"/>
          </a:solidFill>
          <a:ln w="23813">
            <a:solidFill>
              <a:srgbClr val="4844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33055" y="1467892"/>
            <a:ext cx="1903065" cy="79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It's like a special notebook for programmers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82724" y="2618110"/>
            <a:ext cx="2295302" cy="1187500"/>
          </a:xfrm>
          <a:prstGeom prst="roundRect">
            <a:avLst>
              <a:gd name="adj" fmla="val 2178"/>
            </a:avLst>
          </a:prstGeom>
          <a:solidFill>
            <a:srgbClr val="100C35"/>
          </a:solidFill>
          <a:ln w="23813">
            <a:solidFill>
              <a:srgbClr val="48446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879" y="2814265"/>
            <a:ext cx="1902991" cy="79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You write code here, and the computer reads it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936900" y="2618110"/>
            <a:ext cx="2295376" cy="1187500"/>
          </a:xfrm>
          <a:prstGeom prst="roundRect">
            <a:avLst>
              <a:gd name="adj" fmla="val 2178"/>
            </a:avLst>
          </a:prstGeom>
          <a:solidFill>
            <a:srgbClr val="100C35"/>
          </a:solidFill>
          <a:ln w="23813">
            <a:solidFill>
              <a:srgbClr val="4844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33055" y="2814265"/>
            <a:ext cx="1903065" cy="79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It helps you write Python code in a clean, organized way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82724" y="3964484"/>
            <a:ext cx="4749552" cy="657374"/>
          </a:xfrm>
          <a:prstGeom prst="roundRect">
            <a:avLst>
              <a:gd name="adj" fmla="val 3934"/>
            </a:avLst>
          </a:prstGeom>
          <a:solidFill>
            <a:srgbClr val="100C35"/>
          </a:solidFill>
          <a:ln w="23813">
            <a:solidFill>
              <a:srgbClr val="48446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879" y="4160639"/>
            <a:ext cx="4357241" cy="265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Many professional programmers use it!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755" y="370954"/>
            <a:ext cx="3806800" cy="36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Step 1: Download VS Code </a:t>
            </a:r>
            <a:r>
              <a:rPr lang="en-US" sz="23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📥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71" y="909265"/>
            <a:ext cx="7580858" cy="27442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8115" y="2990628"/>
            <a:ext cx="1787216" cy="223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Click to Download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338115" y="2163486"/>
            <a:ext cx="1787216" cy="223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Find Download Button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38115" y="1327904"/>
            <a:ext cx="1787216" cy="223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Open Website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1755" y="3748460"/>
            <a:ext cx="8440489" cy="168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Follow these simple steps to get VS Code on your system: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51755" y="4011513"/>
            <a:ext cx="8440489" cy="76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Go to: </a:t>
            </a:r>
            <a:r>
              <a:rPr lang="en-US" sz="950" u="sng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</a:t>
            </a:r>
            <a:endParaRPr lang="en-US" sz="950" dirty="0"/>
          </a:p>
          <a:p>
            <a:pPr marL="342900" indent="-342900" algn="l">
              <a:lnSpc>
                <a:spcPts val="13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Look for the big blue button that says "Download for Windows"</a:t>
            </a:r>
            <a:endParaRPr lang="en-US" sz="950" dirty="0"/>
          </a:p>
          <a:p>
            <a:pPr marL="342900" indent="-342900" algn="l">
              <a:lnSpc>
                <a:spcPts val="13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Click it!</a:t>
            </a:r>
            <a:endParaRPr lang="en-US" sz="950" dirty="0"/>
          </a:p>
          <a:p>
            <a:pPr marL="342900" indent="-342900" algn="l">
              <a:lnSpc>
                <a:spcPts val="13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file will start downloading to your computer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1789" y="257101"/>
            <a:ext cx="2485281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Step 2: Install VS Code </a:t>
            </a: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🔧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434" y="630362"/>
            <a:ext cx="5063058" cy="300491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8393" y="1364813"/>
            <a:ext cx="431010" cy="4310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64389" y="2945407"/>
            <a:ext cx="1258550" cy="228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Finish Setup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0491" y="1365621"/>
            <a:ext cx="431010" cy="43101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978272" y="2945407"/>
            <a:ext cx="1258550" cy="228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Run Installer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84374" y="1365621"/>
            <a:ext cx="431010" cy="43101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366294" y="2945407"/>
            <a:ext cx="1258549" cy="228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Find File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261789" y="3687812"/>
            <a:ext cx="8620423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Follow these steps to install VS Code:</a:t>
            </a:r>
            <a:endParaRPr lang="en-US" sz="700" dirty="0"/>
          </a:p>
        </p:txBody>
      </p:sp>
      <p:sp>
        <p:nvSpPr>
          <p:cNvPr id="11" name="Text 5"/>
          <p:cNvSpPr/>
          <p:nvPr/>
        </p:nvSpPr>
        <p:spPr>
          <a:xfrm>
            <a:off x="261789" y="3852565"/>
            <a:ext cx="8620423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Find the downloaded file (usually in your Downloads folder)</a:t>
            </a:r>
            <a:endParaRPr lang="en-US" sz="70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Double-click it to open the installer</a:t>
            </a:r>
            <a:endParaRPr lang="en-US" sz="70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Click "Next" to continue</a:t>
            </a:r>
            <a:endParaRPr lang="en-US" sz="70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Click "Install" when asked</a:t>
            </a:r>
            <a:endParaRPr lang="en-US" sz="70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Wait for it to finish!</a:t>
            </a:r>
            <a:endParaRPr lang="en-US" sz="700" dirty="0"/>
          </a:p>
        </p:txBody>
      </p:sp>
      <p:sp>
        <p:nvSpPr>
          <p:cNvPr id="12" name="Text 6"/>
          <p:cNvSpPr/>
          <p:nvPr/>
        </p:nvSpPr>
        <p:spPr>
          <a:xfrm>
            <a:off x="261789" y="4531370"/>
            <a:ext cx="8620423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Important checkboxes to check:</a:t>
            </a:r>
            <a:endParaRPr lang="en-US" sz="700" dirty="0"/>
          </a:p>
        </p:txBody>
      </p:sp>
      <p:sp>
        <p:nvSpPr>
          <p:cNvPr id="13" name="Text 7"/>
          <p:cNvSpPr/>
          <p:nvPr/>
        </p:nvSpPr>
        <p:spPr>
          <a:xfrm>
            <a:off x="261789" y="4696123"/>
            <a:ext cx="8620423" cy="240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✓ Add to PATH (helps you use VS Code from anywhere)</a:t>
            </a:r>
            <a:endParaRPr lang="en-US" sz="70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✓ Add "Open with Code" (lets you right-click files to open them in VS Code)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51706"/>
            <a:ext cx="4667845" cy="110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Step 3: Open VS Code </a:t>
            </a:r>
            <a:r>
              <a:rPr lang="en-US" sz="34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🎉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523577" y="1936924"/>
            <a:ext cx="4667845" cy="2654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Installation is complete! Great job!</a:t>
            </a:r>
            <a:endParaRPr lang="en-US" sz="14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Look for VS Code on your desktop or in your Start menu</a:t>
            </a:r>
            <a:endParaRPr lang="en-US" sz="14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Double-click the VS Code icon to open it</a:t>
            </a:r>
            <a:endParaRPr lang="en-US" sz="14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You should see a welcome screen with lots of options</a:t>
            </a:r>
            <a:endParaRPr lang="en-US" sz="14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Don't worry if it looks complicated - we'll learn it step by step!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83629"/>
            <a:ext cx="6834113" cy="554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Step 4: Install Python Extension </a:t>
            </a:r>
            <a:r>
              <a:rPr lang="en-US" sz="34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🐍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523577" y="1418853"/>
            <a:ext cx="8096845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Extensions are like add-ons that give VS Code special powers!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23577" y="1928366"/>
            <a:ext cx="8096845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We need the Python extension to write Python code.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23577" y="2437879"/>
            <a:ext cx="8096845" cy="2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Look for the Extensions icon on the left side (it looks like 4 squares)</a:t>
            </a:r>
            <a:endParaRPr lang="en-US" sz="1450" dirty="0"/>
          </a:p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Click it to open the Extensions tab</a:t>
            </a:r>
            <a:endParaRPr lang="en-US" sz="1450" dirty="0"/>
          </a:p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Type "Python" in the search box</a:t>
            </a:r>
            <a:endParaRPr lang="en-US" sz="1450" dirty="0"/>
          </a:p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Find the one made by Microsoft (it will have a blue checkmark)</a:t>
            </a:r>
            <a:endParaRPr lang="en-US" sz="1450" dirty="0"/>
          </a:p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Click "Install"</a:t>
            </a:r>
            <a:endParaRPr lang="en-US" sz="1450" dirty="0"/>
          </a:p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6"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Wait for it to finish!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1789" y="257101"/>
            <a:ext cx="3828157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Step 5: Create Your First Python File </a:t>
            </a:r>
            <a:r>
              <a:rPr lang="en-US" sz="17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📝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89" y="630362"/>
            <a:ext cx="8620423" cy="37841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4161" y="3573347"/>
            <a:ext cx="1511068" cy="219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Click File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724161" y="3859396"/>
            <a:ext cx="1511068" cy="140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Open the top menu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966775" y="3375123"/>
            <a:ext cx="1511068" cy="219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Save as hello.py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966775" y="3661172"/>
            <a:ext cx="1511068" cy="280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Type name and press Enter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57922" y="1027181"/>
            <a:ext cx="1511068" cy="219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Select New File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857922" y="1313231"/>
            <a:ext cx="1511068" cy="140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Create a blank file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61789" y="4467002"/>
            <a:ext cx="8620423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Now we're ready to write code!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61789" y="4631754"/>
            <a:ext cx="8620423" cy="754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Click "File" in the top menu</a:t>
            </a:r>
            <a:endParaRPr lang="en-US" sz="70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Click "New File"</a:t>
            </a:r>
            <a:endParaRPr lang="en-US" sz="70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blank file will appear</a:t>
            </a:r>
            <a:endParaRPr lang="en-US" sz="70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Save it with a Python name: type "hello.py"</a:t>
            </a:r>
            <a:endParaRPr lang="en-US" sz="70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".py" tells VS Code it's a Python file</a:t>
            </a:r>
            <a:endParaRPr lang="en-US" sz="70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Press Enter to save it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43744"/>
            <a:ext cx="6941418" cy="554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Step 6: Write Your First Program! </a:t>
            </a:r>
            <a:r>
              <a:rPr lang="en-US" sz="34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💻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523577" y="1378967"/>
            <a:ext cx="8096845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Now type this code in your hello.py file: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3577" y="1888480"/>
            <a:ext cx="8096845" cy="673150"/>
          </a:xfrm>
          <a:prstGeom prst="roundRect">
            <a:avLst>
              <a:gd name="adj" fmla="val 4167"/>
            </a:avLst>
          </a:prstGeom>
          <a:solidFill>
            <a:srgbClr val="1D1942"/>
          </a:solidFill>
          <a:ln/>
        </p:spPr>
      </p:sp>
      <p:sp>
        <p:nvSpPr>
          <p:cNvPr id="5" name="Shape 3"/>
          <p:cNvSpPr/>
          <p:nvPr/>
        </p:nvSpPr>
        <p:spPr>
          <a:xfrm>
            <a:off x="514276" y="1888480"/>
            <a:ext cx="8115449" cy="673150"/>
          </a:xfrm>
          <a:prstGeom prst="roundRect">
            <a:avLst>
              <a:gd name="adj" fmla="val 4167"/>
            </a:avLst>
          </a:prstGeom>
          <a:solidFill>
            <a:srgbClr val="1D1942"/>
          </a:solidFill>
          <a:ln/>
        </p:spPr>
      </p:sp>
      <p:sp>
        <p:nvSpPr>
          <p:cNvPr id="6" name="Text 4"/>
          <p:cNvSpPr/>
          <p:nvPr/>
        </p:nvSpPr>
        <p:spPr>
          <a:xfrm>
            <a:off x="748010" y="2075483"/>
            <a:ext cx="764798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A657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print("Hello from VS Code!")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23577" y="2771998"/>
            <a:ext cx="8096845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This code tells the computer to print (show) a message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23577" y="3281511"/>
            <a:ext cx="8096845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"print" is a Python command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23577" y="3791024"/>
            <a:ext cx="8096845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message goes inside the parentheses and quotes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3577" y="4300538"/>
            <a:ext cx="8096845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Don't worry about understanding everything yet - you'll learn!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95" y="503337"/>
            <a:ext cx="4789661" cy="529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Step 7: Run Your Code! </a:t>
            </a:r>
            <a:r>
              <a:rPr lang="en-US" sz="33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▶️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99095" y="1287140"/>
            <a:ext cx="8145810" cy="278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You've written your first program! Awesome!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99095" y="1756693"/>
            <a:ext cx="8145810" cy="278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Now let's run it and see what happens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9095" y="2226246"/>
            <a:ext cx="8145810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Look for the "Run" button (it looks like a play button </a:t>
            </a:r>
            <a:r>
              <a:rPr lang="en-US" sz="140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▶️</a:t>
            </a: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) in the top right</a:t>
            </a:r>
            <a:endParaRPr lang="en-US" sz="1400" dirty="0"/>
          </a:p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Click it!</a:t>
            </a:r>
            <a:endParaRPr lang="en-US" sz="1400" dirty="0"/>
          </a:p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You should see the message "Hello from VS Code!" appear at the bottom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9095" y="3454375"/>
            <a:ext cx="2535585" cy="31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Alternative way to run: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99095" y="4023717"/>
            <a:ext cx="8145810" cy="616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Right-click on your code</a:t>
            </a:r>
            <a:endParaRPr lang="en-US" sz="14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Click "Run Python File in Terminal"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4975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5459" y="1874788"/>
            <a:ext cx="3882703" cy="357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Helpful Keyboard Shortcuts </a:t>
            </a:r>
            <a:r>
              <a:rPr lang="en-US" sz="22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⌨️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35459" y="2347020"/>
            <a:ext cx="8473083" cy="15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Shortcuts make coding faster and easier!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35459" y="2590577"/>
            <a:ext cx="8473083" cy="15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Here are the most important ones: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35459" y="2834134"/>
            <a:ext cx="8473083" cy="1932161"/>
          </a:xfrm>
          <a:prstGeom prst="roundRect">
            <a:avLst>
              <a:gd name="adj" fmla="val 93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0221" y="2838896"/>
            <a:ext cx="8463558" cy="2587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60028" y="2889647"/>
            <a:ext cx="3989784" cy="15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Shortcut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94188" y="2889647"/>
            <a:ext cx="3989784" cy="15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0221" y="3097634"/>
            <a:ext cx="8463558" cy="4159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60028" y="3148385"/>
            <a:ext cx="3989784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94188" y="3148385"/>
            <a:ext cx="3989784" cy="314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Save your file</a:t>
            </a:r>
            <a:endParaRPr lang="en-US" sz="90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(Always save your work!)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0221" y="3513609"/>
            <a:ext cx="8463558" cy="4159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60028" y="3564359"/>
            <a:ext cx="3989784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 + `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94188" y="3564359"/>
            <a:ext cx="3989784" cy="314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Open the Terminal</a:t>
            </a:r>
            <a:endParaRPr lang="en-US" sz="90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(The terminal is where your code runs)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40221" y="3929583"/>
            <a:ext cx="8463558" cy="4159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60028" y="3980334"/>
            <a:ext cx="3989784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 + /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94188" y="3980334"/>
            <a:ext cx="3989784" cy="314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Comment out code</a:t>
            </a:r>
            <a:endParaRPr lang="en-US" sz="90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(Useful when you want to hide code temporarily)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40221" y="4345558"/>
            <a:ext cx="8463558" cy="4159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60028" y="4396308"/>
            <a:ext cx="3989784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 + Z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694188" y="4396308"/>
            <a:ext cx="3989784" cy="314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Undo</a:t>
            </a:r>
            <a:endParaRPr lang="en-US" sz="90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(Oops! Go back to what you had before)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17240" y="424830"/>
            <a:ext cx="3719959" cy="443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Your First Challenge! </a:t>
            </a:r>
            <a:r>
              <a:rPr lang="en-US" sz="27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🎯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17240" y="1045964"/>
            <a:ext cx="8309521" cy="214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Now it's your turn to create something!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17240" y="1393775"/>
            <a:ext cx="8309521" cy="4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Create a new file called "about_me.py"</a:t>
            </a:r>
            <a:endParaRPr lang="en-US" sz="1150" dirty="0"/>
          </a:p>
          <a:p>
            <a:pPr marL="342900" indent="-342900" algn="l">
              <a:lnSpc>
                <a:spcPts val="165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Write code that prints your name and your favorite hobby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17240" y="1997348"/>
            <a:ext cx="8309521" cy="214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Example: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7240" y="2345159"/>
            <a:ext cx="8309521" cy="726430"/>
          </a:xfrm>
          <a:prstGeom prst="roundRect">
            <a:avLst>
              <a:gd name="adj" fmla="val 3077"/>
            </a:avLst>
          </a:prstGeom>
          <a:solidFill>
            <a:srgbClr val="1D1942"/>
          </a:solidFill>
          <a:ln/>
        </p:spPr>
      </p:sp>
      <p:sp>
        <p:nvSpPr>
          <p:cNvPr id="9" name="Shape 6"/>
          <p:cNvSpPr/>
          <p:nvPr/>
        </p:nvSpPr>
        <p:spPr>
          <a:xfrm>
            <a:off x="409798" y="2345159"/>
            <a:ext cx="8324404" cy="726430"/>
          </a:xfrm>
          <a:prstGeom prst="roundRect">
            <a:avLst>
              <a:gd name="adj" fmla="val 3077"/>
            </a:avLst>
          </a:prstGeom>
          <a:solidFill>
            <a:srgbClr val="1D1942"/>
          </a:solidFill>
          <a:ln/>
        </p:spPr>
      </p:sp>
      <p:sp>
        <p:nvSpPr>
          <p:cNvPr id="10" name="Text 7"/>
          <p:cNvSpPr/>
          <p:nvPr/>
        </p:nvSpPr>
        <p:spPr>
          <a:xfrm>
            <a:off x="596057" y="2494136"/>
            <a:ext cx="7951887" cy="42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FFA657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print("My name is Alex")</a:t>
            </a:r>
            <a:endParaRPr lang="en-US" sz="115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FFA657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print("My favorite hobby is playing video games")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7240" y="3205163"/>
            <a:ext cx="8309521" cy="7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Save the file</a:t>
            </a:r>
            <a:endParaRPr lang="en-US" sz="1150" dirty="0"/>
          </a:p>
          <a:p>
            <a:pPr marL="342900" indent="-342900" algn="l">
              <a:lnSpc>
                <a:spcPts val="165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Run it!</a:t>
            </a:r>
            <a:endParaRPr lang="en-US" sz="1150" dirty="0"/>
          </a:p>
          <a:p>
            <a:pPr marL="342900" indent="-342900" algn="l">
              <a:lnSpc>
                <a:spcPts val="165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See your message appear!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39031" y="4108996"/>
            <a:ext cx="726593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You're officially a programmer! </a:t>
            </a:r>
            <a:r>
              <a:rPr lang="en-US" sz="3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🎉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241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8160" y="1515070"/>
            <a:ext cx="2337643" cy="2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What's Next? </a:t>
            </a: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🚀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78160" y="1891085"/>
            <a:ext cx="8587680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Congratulations! You've set up VS Code and written your first Python program!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278160" y="2072060"/>
            <a:ext cx="8587680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You're ready to learn more Python!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78160" y="2272829"/>
            <a:ext cx="1870100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Next steps: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60" y="2585665"/>
            <a:ext cx="4293840" cy="3973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7503" y="3035796"/>
            <a:ext cx="1168822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Learn about variables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77503" y="3213497"/>
            <a:ext cx="4095155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(storing information)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585665"/>
            <a:ext cx="4293840" cy="39737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71343" y="3035796"/>
            <a:ext cx="1168822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Learn about loops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671343" y="3213497"/>
            <a:ext cx="4095155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(repeating actions)</a:t>
            </a:r>
            <a:endParaRPr lang="en-US" sz="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160" y="3434507"/>
            <a:ext cx="4293840" cy="3973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7503" y="3884637"/>
            <a:ext cx="1168822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Learn about functions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377503" y="4062338"/>
            <a:ext cx="4095155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(reusing code)</a:t>
            </a:r>
            <a:endParaRPr lang="en-US" sz="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434507"/>
            <a:ext cx="4293840" cy="39737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71343" y="3884637"/>
            <a:ext cx="1168822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Build fun projects!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278160" y="4362450"/>
            <a:ext cx="1870100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Remember: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872" y="4660999"/>
            <a:ext cx="28575" cy="15976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06078" y="4675287"/>
            <a:ext cx="2690664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Practice makes perfect!</a:t>
            </a:r>
            <a:endParaRPr lang="en-US" sz="7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8385" y="4660999"/>
            <a:ext cx="28575" cy="15976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290590" y="4675287"/>
            <a:ext cx="2690664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Don't be afraid to make mistakes</a:t>
            </a: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- that's how we learn!</a:t>
            </a:r>
            <a:endParaRPr lang="en-US" sz="7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2897" y="4660999"/>
            <a:ext cx="28575" cy="159767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175102" y="4675287"/>
            <a:ext cx="2690738" cy="131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Have fun coding!</a:t>
            </a: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</a:t>
            </a:r>
            <a:r>
              <a:rPr lang="en-US" sz="7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💻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2296716"/>
            <a:ext cx="4400327" cy="549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endParaRPr lang="en-US" sz="3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835</Words>
  <Application>Microsoft Office PowerPoint</Application>
  <PresentationFormat>On-screen Show (16:9)</PresentationFormat>
  <Paragraphs>132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Consolas Light</vt:lpstr>
      <vt:lpstr>Arial</vt:lpstr>
      <vt:lpstr>Consolas</vt:lpstr>
      <vt:lpstr>Kanit</vt:lpstr>
      <vt:lpstr>Martel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Hari Kalatheeswaran</cp:lastModifiedBy>
  <cp:revision>1</cp:revision>
  <dcterms:created xsi:type="dcterms:W3CDTF">2026-05-09T10:06:42Z</dcterms:created>
  <dcterms:modified xsi:type="dcterms:W3CDTF">2026-05-09T10:19:10Z</dcterms:modified>
</cp:coreProperties>
</file>